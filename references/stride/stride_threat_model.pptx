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56" r:id="rId4"/>
    <p:sldId id="257" r:id="rId5"/>
    <p:sldId id="259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698654-7BBF-458E-9366-576A252EB8BA}" v="24" dt="2026-05-27T05:47:04.6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104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근형 김" userId="573ea01c75758378" providerId="LiveId" clId="{373D1CD2-7856-4216-BC27-7D43F0A2EDC4}"/>
    <pc:docChg chg="undo custSel addSld delSld modSld sldOrd">
      <pc:chgData name="근형 김" userId="573ea01c75758378" providerId="LiveId" clId="{373D1CD2-7856-4216-BC27-7D43F0A2EDC4}" dt="2026-05-27T05:48:48.930" v="1459" actId="1076"/>
      <pc:docMkLst>
        <pc:docMk/>
      </pc:docMkLst>
      <pc:sldChg chg="modSp mod">
        <pc:chgData name="근형 김" userId="573ea01c75758378" providerId="LiveId" clId="{373D1CD2-7856-4216-BC27-7D43F0A2EDC4}" dt="2026-05-26T08:15:36.951" v="1089" actId="14100"/>
        <pc:sldMkLst>
          <pc:docMk/>
          <pc:sldMk cId="964110684" sldId="257"/>
        </pc:sldMkLst>
        <pc:graphicFrameChg chg="mod modGraphic">
          <ac:chgData name="근형 김" userId="573ea01c75758378" providerId="LiveId" clId="{373D1CD2-7856-4216-BC27-7D43F0A2EDC4}" dt="2026-05-26T08:15:36.951" v="1089" actId="14100"/>
          <ac:graphicFrameMkLst>
            <pc:docMk/>
            <pc:sldMk cId="964110684" sldId="257"/>
            <ac:graphicFrameMk id="4" creationId="{1700942F-B2F6-0A89-5B42-62C49EAF1AFC}"/>
          </ac:graphicFrameMkLst>
        </pc:graphicFrameChg>
      </pc:sldChg>
      <pc:sldChg chg="addSp delSp modSp new mod ord">
        <pc:chgData name="근형 김" userId="573ea01c75758378" providerId="LiveId" clId="{373D1CD2-7856-4216-BC27-7D43F0A2EDC4}" dt="2026-05-26T07:53:40.041" v="470" actId="20577"/>
        <pc:sldMkLst>
          <pc:docMk/>
          <pc:sldMk cId="121940417" sldId="258"/>
        </pc:sldMkLst>
        <pc:spChg chg="mod">
          <ac:chgData name="근형 김" userId="573ea01c75758378" providerId="LiveId" clId="{373D1CD2-7856-4216-BC27-7D43F0A2EDC4}" dt="2026-05-26T07:53:40.041" v="470" actId="20577"/>
          <ac:spMkLst>
            <pc:docMk/>
            <pc:sldMk cId="121940417" sldId="258"/>
            <ac:spMk id="2" creationId="{9B6A2E0D-89C8-6044-BCBA-B0F2EE724B31}"/>
          </ac:spMkLst>
        </pc:spChg>
        <pc:spChg chg="del">
          <ac:chgData name="근형 김" userId="573ea01c75758378" providerId="LiveId" clId="{373D1CD2-7856-4216-BC27-7D43F0A2EDC4}" dt="2026-05-26T07:38:33.677" v="261" actId="478"/>
          <ac:spMkLst>
            <pc:docMk/>
            <pc:sldMk cId="121940417" sldId="258"/>
            <ac:spMk id="3" creationId="{C492EA6B-1E65-1D80-A3C9-E4623CDC3488}"/>
          </ac:spMkLst>
        </pc:spChg>
        <pc:picChg chg="add del mod">
          <ac:chgData name="근형 김" userId="573ea01c75758378" providerId="LiveId" clId="{373D1CD2-7856-4216-BC27-7D43F0A2EDC4}" dt="2026-05-26T07:51:42.072" v="327" actId="478"/>
          <ac:picMkLst>
            <pc:docMk/>
            <pc:sldMk cId="121940417" sldId="258"/>
            <ac:picMk id="5" creationId="{F9F9E795-6738-DCDA-0A96-6253C8FB75D3}"/>
          </ac:picMkLst>
        </pc:picChg>
        <pc:picChg chg="add mod">
          <ac:chgData name="근형 김" userId="573ea01c75758378" providerId="LiveId" clId="{373D1CD2-7856-4216-BC27-7D43F0A2EDC4}" dt="2026-05-26T07:52:14.056" v="334" actId="14100"/>
          <ac:picMkLst>
            <pc:docMk/>
            <pc:sldMk cId="121940417" sldId="258"/>
            <ac:picMk id="7" creationId="{6A26CC8A-8180-200B-1CF7-438583D19F9F}"/>
          </ac:picMkLst>
        </pc:picChg>
        <pc:picChg chg="add mod">
          <ac:chgData name="근형 김" userId="573ea01c75758378" providerId="LiveId" clId="{373D1CD2-7856-4216-BC27-7D43F0A2EDC4}" dt="2026-05-26T07:51:52.369" v="330" actId="1076"/>
          <ac:picMkLst>
            <pc:docMk/>
            <pc:sldMk cId="121940417" sldId="258"/>
            <ac:picMk id="1026" creationId="{814A389A-7768-05BC-08A0-43189E0916DA}"/>
          </ac:picMkLst>
        </pc:picChg>
      </pc:sldChg>
      <pc:sldChg chg="addSp delSp modSp new mod">
        <pc:chgData name="근형 김" userId="573ea01c75758378" providerId="LiveId" clId="{373D1CD2-7856-4216-BC27-7D43F0A2EDC4}" dt="2026-05-27T05:36:41.377" v="1229" actId="20577"/>
        <pc:sldMkLst>
          <pc:docMk/>
          <pc:sldMk cId="1828798928" sldId="259"/>
        </pc:sldMkLst>
        <pc:spChg chg="mod">
          <ac:chgData name="근형 김" userId="573ea01c75758378" providerId="LiveId" clId="{373D1CD2-7856-4216-BC27-7D43F0A2EDC4}" dt="2026-05-26T07:41:19.762" v="315" actId="20577"/>
          <ac:spMkLst>
            <pc:docMk/>
            <pc:sldMk cId="1828798928" sldId="259"/>
            <ac:spMk id="2" creationId="{0885795A-2F6F-9E21-7753-0772E21655B4}"/>
          </ac:spMkLst>
        </pc:spChg>
        <pc:spChg chg="add del mod">
          <ac:chgData name="근형 김" userId="573ea01c75758378" providerId="LiveId" clId="{373D1CD2-7856-4216-BC27-7D43F0A2EDC4}" dt="2026-05-26T07:57:04.410" v="510" actId="20577"/>
          <ac:spMkLst>
            <pc:docMk/>
            <pc:sldMk cId="1828798928" sldId="259"/>
            <ac:spMk id="3" creationId="{8E093CEB-551B-7E6A-1A79-046B87C49145}"/>
          </ac:spMkLst>
        </pc:spChg>
        <pc:graphicFrameChg chg="add mod modGraphic">
          <ac:chgData name="근형 김" userId="573ea01c75758378" providerId="LiveId" clId="{373D1CD2-7856-4216-BC27-7D43F0A2EDC4}" dt="2026-05-27T05:36:41.377" v="1229" actId="20577"/>
          <ac:graphicFrameMkLst>
            <pc:docMk/>
            <pc:sldMk cId="1828798928" sldId="259"/>
            <ac:graphicFrameMk id="4" creationId="{4F8CF35A-4602-430E-7D25-DB16CDA7B43F}"/>
          </ac:graphicFrameMkLst>
        </pc:graphicFrameChg>
        <pc:cxnChg chg="add mod">
          <ac:chgData name="근형 김" userId="573ea01c75758378" providerId="LiveId" clId="{373D1CD2-7856-4216-BC27-7D43F0A2EDC4}" dt="2026-05-26T08:05:59.713" v="866" actId="208"/>
          <ac:cxnSpMkLst>
            <pc:docMk/>
            <pc:sldMk cId="1828798928" sldId="259"/>
            <ac:cxnSpMk id="6" creationId="{896869C2-A791-FE4D-4773-5F5D1398F991}"/>
          </ac:cxnSpMkLst>
        </pc:cxnChg>
      </pc:sldChg>
      <pc:sldChg chg="modSp new mod">
        <pc:chgData name="근형 김" userId="573ea01c75758378" providerId="LiveId" clId="{373D1CD2-7856-4216-BC27-7D43F0A2EDC4}" dt="2026-05-26T07:53:10.130" v="376" actId="20577"/>
        <pc:sldMkLst>
          <pc:docMk/>
          <pc:sldMk cId="3629835009" sldId="260"/>
        </pc:sldMkLst>
        <pc:spChg chg="mod">
          <ac:chgData name="근형 김" userId="573ea01c75758378" providerId="LiveId" clId="{373D1CD2-7856-4216-BC27-7D43F0A2EDC4}" dt="2026-05-26T07:53:10.130" v="376" actId="20577"/>
          <ac:spMkLst>
            <pc:docMk/>
            <pc:sldMk cId="3629835009" sldId="260"/>
            <ac:spMk id="2" creationId="{FF4E8D04-B076-6C5A-8458-D6CD528AFD20}"/>
          </ac:spMkLst>
        </pc:spChg>
      </pc:sldChg>
      <pc:sldChg chg="addSp delSp modSp add mod">
        <pc:chgData name="근형 김" userId="573ea01c75758378" providerId="LiveId" clId="{373D1CD2-7856-4216-BC27-7D43F0A2EDC4}" dt="2026-05-27T05:42:41.557" v="1363" actId="14734"/>
        <pc:sldMkLst>
          <pc:docMk/>
          <pc:sldMk cId="1270199411" sldId="261"/>
        </pc:sldMkLst>
        <pc:spChg chg="mod">
          <ac:chgData name="근형 김" userId="573ea01c75758378" providerId="LiveId" clId="{373D1CD2-7856-4216-BC27-7D43F0A2EDC4}" dt="2026-05-27T05:34:05.396" v="1102" actId="208"/>
          <ac:spMkLst>
            <pc:docMk/>
            <pc:sldMk cId="1270199411" sldId="261"/>
            <ac:spMk id="3" creationId="{9D80D83D-598B-11AB-90EA-4B74E885D48F}"/>
          </ac:spMkLst>
        </pc:spChg>
        <pc:graphicFrameChg chg="add del mod">
          <ac:chgData name="근형 김" userId="573ea01c75758378" providerId="LiveId" clId="{373D1CD2-7856-4216-BC27-7D43F0A2EDC4}" dt="2026-05-27T05:32:30.234" v="1090" actId="478"/>
          <ac:graphicFrameMkLst>
            <pc:docMk/>
            <pc:sldMk cId="1270199411" sldId="261"/>
            <ac:graphicFrameMk id="4" creationId="{24E235B7-1F0C-91EA-85C2-34D64BA34DDB}"/>
          </ac:graphicFrameMkLst>
        </pc:graphicFrameChg>
        <pc:graphicFrameChg chg="add mod modGraphic">
          <ac:chgData name="근형 김" userId="573ea01c75758378" providerId="LiveId" clId="{373D1CD2-7856-4216-BC27-7D43F0A2EDC4}" dt="2026-05-27T05:42:41.557" v="1363" actId="14734"/>
          <ac:graphicFrameMkLst>
            <pc:docMk/>
            <pc:sldMk cId="1270199411" sldId="261"/>
            <ac:graphicFrameMk id="5" creationId="{6EB75304-1656-BB07-E8AF-7D489F329BFC}"/>
          </ac:graphicFrameMkLst>
        </pc:graphicFrameChg>
        <pc:cxnChg chg="add mod">
          <ac:chgData name="근형 김" userId="573ea01c75758378" providerId="LiveId" clId="{373D1CD2-7856-4216-BC27-7D43F0A2EDC4}" dt="2026-05-27T05:37:51.588" v="1262" actId="13822"/>
          <ac:cxnSpMkLst>
            <pc:docMk/>
            <pc:sldMk cId="1270199411" sldId="261"/>
            <ac:cxnSpMk id="7" creationId="{F5D0889A-6C94-E0C6-3032-03A001F161EA}"/>
          </ac:cxnSpMkLst>
        </pc:cxnChg>
      </pc:sldChg>
      <pc:sldChg chg="modSp new mod">
        <pc:chgData name="근형 김" userId="573ea01c75758378" providerId="LiveId" clId="{373D1CD2-7856-4216-BC27-7D43F0A2EDC4}" dt="2026-05-26T07:59:08.156" v="759" actId="20577"/>
        <pc:sldMkLst>
          <pc:docMk/>
          <pc:sldMk cId="2097507654" sldId="262"/>
        </pc:sldMkLst>
        <pc:spChg chg="mod">
          <ac:chgData name="근형 김" userId="573ea01c75758378" providerId="LiveId" clId="{373D1CD2-7856-4216-BC27-7D43F0A2EDC4}" dt="2026-05-26T07:58:02.371" v="548" actId="20577"/>
          <ac:spMkLst>
            <pc:docMk/>
            <pc:sldMk cId="2097507654" sldId="262"/>
            <ac:spMk id="2" creationId="{88904AA0-8E72-144A-0A59-856B114FD5EC}"/>
          </ac:spMkLst>
        </pc:spChg>
        <pc:spChg chg="mod">
          <ac:chgData name="근형 김" userId="573ea01c75758378" providerId="LiveId" clId="{373D1CD2-7856-4216-BC27-7D43F0A2EDC4}" dt="2026-05-26T07:59:08.156" v="759" actId="20577"/>
          <ac:spMkLst>
            <pc:docMk/>
            <pc:sldMk cId="2097507654" sldId="262"/>
            <ac:spMk id="3" creationId="{1580EEBA-E210-FA95-92A4-06C11387BAC9}"/>
          </ac:spMkLst>
        </pc:spChg>
      </pc:sldChg>
      <pc:sldChg chg="addSp delSp modSp new add del mod">
        <pc:chgData name="근형 김" userId="573ea01c75758378" providerId="LiveId" clId="{373D1CD2-7856-4216-BC27-7D43F0A2EDC4}" dt="2026-05-27T05:48:48.930" v="1459" actId="1076"/>
        <pc:sldMkLst>
          <pc:docMk/>
          <pc:sldMk cId="1465793005" sldId="263"/>
        </pc:sldMkLst>
        <pc:spChg chg="mod">
          <ac:chgData name="근형 김" userId="573ea01c75758378" providerId="LiveId" clId="{373D1CD2-7856-4216-BC27-7D43F0A2EDC4}" dt="2026-05-27T05:48:41.704" v="1458" actId="255"/>
          <ac:spMkLst>
            <pc:docMk/>
            <pc:sldMk cId="1465793005" sldId="263"/>
            <ac:spMk id="2" creationId="{CCDE8390-A63E-9049-4618-8EFEDE0A94B5}"/>
          </ac:spMkLst>
        </pc:spChg>
        <pc:spChg chg="del">
          <ac:chgData name="근형 김" userId="573ea01c75758378" providerId="LiveId" clId="{373D1CD2-7856-4216-BC27-7D43F0A2EDC4}" dt="2026-05-27T05:45:16.366" v="1366" actId="478"/>
          <ac:spMkLst>
            <pc:docMk/>
            <pc:sldMk cId="1465793005" sldId="263"/>
            <ac:spMk id="3" creationId="{ECF1DDEE-E54E-7E36-0B32-241469057596}"/>
          </ac:spMkLst>
        </pc:spChg>
        <pc:graphicFrameChg chg="add mod modGraphic">
          <ac:chgData name="근형 김" userId="573ea01c75758378" providerId="LiveId" clId="{373D1CD2-7856-4216-BC27-7D43F0A2EDC4}" dt="2026-05-27T05:48:48.930" v="1459" actId="1076"/>
          <ac:graphicFrameMkLst>
            <pc:docMk/>
            <pc:sldMk cId="1465793005" sldId="263"/>
            <ac:graphicFrameMk id="4" creationId="{C8014A96-1333-6C6B-4CAB-6A8C58BA4CD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341D5-5E15-6FAE-4821-04F93070D9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68C1686-1C99-6853-E105-07FB94BEB9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22BD5B-92AF-8DC8-5399-EA37FE383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BC02D-37D7-48C1-ADBB-337977D59ED2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456987-ACE7-03C4-FFCA-BA02B2A2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8245B1-2632-BD79-3C3C-EEFA8477F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5070D-DDF7-4D74-9262-873736C315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0788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B64B6E-2761-572B-A2A4-FFC01D32B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596537-3889-F99C-C458-FA48A6C3C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931D30-1BC2-C9F6-2731-C93C7F1F2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BC02D-37D7-48C1-ADBB-337977D59ED2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412D5A-01ED-854E-4353-3477276F1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9FCB2C-8037-F375-D6CA-883FF6AF4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5070D-DDF7-4D74-9262-873736C315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725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C4915C-11BF-AF4D-5544-56B2142DD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92BEDC-F846-7AC4-8111-AAE4066C7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62F3DB-CBCD-8E88-8BF5-F0A55B17A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BC02D-37D7-48C1-ADBB-337977D59ED2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498F38-ED35-6252-B9E2-A0CD793ED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897206-0F77-46A8-7D4E-ADA97AFAF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5070D-DDF7-4D74-9262-873736C315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037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E178D2-B37E-626A-74E1-31AEC1E45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2E4A4C-4243-9F74-2C28-632A466DF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32CFEE6-580B-89EE-B260-18968E44B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3E3C95-1CFA-E074-9A7C-61ED4CD93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BC02D-37D7-48C1-ADBB-337977D59ED2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B5B979-3B58-0621-675C-78AF00825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F1F52B-87D6-ED91-3A95-C39F1EBE2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5070D-DDF7-4D74-9262-873736C315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2892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3C2621-C8EE-17C0-B99F-1B3452BE9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23A9A9-F4A5-213D-E777-165ADEAB9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7733A7-A5AF-D011-4E88-DA1CCD9F9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1A43E30-B5FA-C759-E50A-E4F5332209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E9BF535-E7FD-07FD-F850-2BB926EAE7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D8A6D17-8865-DA0B-0756-8EE9EF7E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BC02D-37D7-48C1-ADBB-337977D59ED2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E846D17-6F21-76FD-8D10-5AEE89B08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096D78-3121-B99F-BDB9-A3479911A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5070D-DDF7-4D74-9262-873736C315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08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8FD549-F0A2-656E-DCE1-B0EFDB6F5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42F41E-E01E-E597-AD9A-7D2A35EBB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BC02D-37D7-48C1-ADBB-337977D59ED2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54E5E2-AC66-CF6D-1788-15E65A23F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DE7CC0-920A-B55D-E79C-0F0BA4452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5070D-DDF7-4D74-9262-873736C315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8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9C70250-E703-F336-59C2-B367E1EBD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BC02D-37D7-48C1-ADBB-337977D59ED2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BA185C6-8B20-E1FC-1F22-486C44C7E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1BA8A5-DDFB-E3F0-7A9E-2A9208507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5070D-DDF7-4D74-9262-873736C315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257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E6E59B-BBD3-303E-AF79-6366D2FEF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D04CBF-671A-99FE-ED1A-ABB795AFD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B65094-9E1E-CC0E-C48D-7F810DA4A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BA3D65-530B-8C1F-353D-621BC2BB3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BC02D-37D7-48C1-ADBB-337977D59ED2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A7482E-0FA2-592D-DE80-DC7F410D9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0C308C-1D50-15F2-A34F-51006972D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5070D-DDF7-4D74-9262-873736C315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839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0AA4B1-419A-77B1-824E-9387A8AA9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A09AC3-9B8D-EA43-3CFA-60B2C462C0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B97FCB-FD7A-8E5F-BDCE-A07F3EAFF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EF862C-2B3D-EC2F-277B-5E7845FD9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BC02D-37D7-48C1-ADBB-337977D59ED2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A6AA35-5255-9D0F-FCC1-248E24882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524204-4B71-832A-F428-C47F6E47A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5070D-DDF7-4D74-9262-873736C315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0716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1B4D16-E47D-A89F-69E1-ADA434333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85DC00-D135-C3C5-7397-8FFA717C4F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6B8068-09E3-29B2-F815-7AF55B17D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BC02D-37D7-48C1-ADBB-337977D59ED2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AFD26-759F-A266-D8ED-266C5D01A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1C1A96-029B-053E-529C-762E65FDB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5070D-DDF7-4D74-9262-873736C315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289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1E3CFDD-051F-4296-C192-44261A87BF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D9AAD25-3582-EC91-4BE4-6466E614B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B94D3B-2FC5-A67F-CCE7-07D52D9EF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BC02D-37D7-48C1-ADBB-337977D59ED2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3DECD0-8181-05AC-7957-856F7230C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7346E5-5CE2-D7C4-BE37-7776DF71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5070D-DDF7-4D74-9262-873736C315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0678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72F19C-D400-ED51-1DC6-51ACA90C9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668A29-A491-D47E-7EE0-866271B81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A3BC12-A014-F4CF-3486-B07959176E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CBC02D-37D7-48C1-ADBB-337977D59ED2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94F4B-7816-4FE7-9D2F-E9C67082E1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A083C8-5D36-7BE6-9941-DC225968A1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45070D-DDF7-4D74-9262-873736C315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513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4E8D04-B076-6C5A-8458-D6CD528AFD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조 실험그룹</a:t>
            </a:r>
            <a:r>
              <a:rPr lang="en-US" altLang="ko-KR" dirty="0"/>
              <a:t>A</a:t>
            </a:r>
            <a:r>
              <a:rPr lang="ko-KR" altLang="en-US" dirty="0"/>
              <a:t>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8466DF3-2CFD-6CA0-F10B-A4C347154A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9835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6A2E0D-89C8-6044-BCBA-B0F2EE724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195"/>
            <a:ext cx="10515600" cy="1325563"/>
          </a:xfrm>
        </p:spPr>
        <p:txBody>
          <a:bodyPr/>
          <a:lstStyle/>
          <a:p>
            <a:r>
              <a:rPr lang="en-US" altLang="ko-KR" dirty="0" err="1"/>
              <a:t>Jitsi</a:t>
            </a:r>
            <a:r>
              <a:rPr lang="en-US" altLang="ko-KR" dirty="0"/>
              <a:t> Meet DFD</a:t>
            </a:r>
            <a:r>
              <a:rPr lang="en-US" altLang="ko-KR" sz="2000" dirty="0"/>
              <a:t> 	</a:t>
            </a:r>
            <a:r>
              <a:rPr lang="ko-KR" altLang="en-US" sz="2000" dirty="0"/>
              <a:t>두개의 </a:t>
            </a:r>
            <a:r>
              <a:rPr lang="en-US" altLang="ko-KR" sz="2000" dirty="0"/>
              <a:t>DFD</a:t>
            </a:r>
            <a:r>
              <a:rPr lang="ko-KR" altLang="en-US" sz="2000" dirty="0"/>
              <a:t>산출 </a:t>
            </a:r>
            <a:r>
              <a:rPr lang="en-US" altLang="ko-KR" sz="2000" dirty="0"/>
              <a:t>( </a:t>
            </a:r>
            <a:r>
              <a:rPr lang="ko-KR" altLang="en-US" sz="2000" dirty="0"/>
              <a:t>형식은 달라도 내용은 비슷함</a:t>
            </a:r>
            <a:r>
              <a:rPr lang="en-US" altLang="ko-KR" sz="2000" dirty="0"/>
              <a:t> )</a:t>
            </a:r>
            <a:endParaRPr lang="ko-KR" altLang="en-US" dirty="0"/>
          </a:p>
        </p:txBody>
      </p:sp>
      <p:pic>
        <p:nvPicPr>
          <p:cNvPr id="1026" name="Picture 2" descr="DFD 1 team diagram screenshot&#10;            ">
            <a:extLst>
              <a:ext uri="{FF2B5EF4-FFF2-40B4-BE49-F238E27FC236}">
                <a16:creationId xmlns:a16="http://schemas.microsoft.com/office/drawing/2014/main" id="{814A389A-7768-05BC-08A0-43189E091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043" y="992289"/>
            <a:ext cx="5652536" cy="5865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A26CC8A-8180-200B-1CF7-438583D19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21" y="1699591"/>
            <a:ext cx="5546518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40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778E84D1-91B5-3D19-FDDB-0F6A1BD4E3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399947"/>
              </p:ext>
            </p:extLst>
          </p:nvPr>
        </p:nvGraphicFramePr>
        <p:xfrm>
          <a:off x="646596" y="397275"/>
          <a:ext cx="10898808" cy="6063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4702">
                  <a:extLst>
                    <a:ext uri="{9D8B030D-6E8A-4147-A177-3AD203B41FA5}">
                      <a16:colId xmlns:a16="http://schemas.microsoft.com/office/drawing/2014/main" val="1247950126"/>
                    </a:ext>
                  </a:extLst>
                </a:gridCol>
                <a:gridCol w="2724702">
                  <a:extLst>
                    <a:ext uri="{9D8B030D-6E8A-4147-A177-3AD203B41FA5}">
                      <a16:colId xmlns:a16="http://schemas.microsoft.com/office/drawing/2014/main" val="632882144"/>
                    </a:ext>
                  </a:extLst>
                </a:gridCol>
                <a:gridCol w="2724702">
                  <a:extLst>
                    <a:ext uri="{9D8B030D-6E8A-4147-A177-3AD203B41FA5}">
                      <a16:colId xmlns:a16="http://schemas.microsoft.com/office/drawing/2014/main" val="2096124397"/>
                    </a:ext>
                  </a:extLst>
                </a:gridCol>
                <a:gridCol w="2724702">
                  <a:extLst>
                    <a:ext uri="{9D8B030D-6E8A-4147-A177-3AD203B41FA5}">
                      <a16:colId xmlns:a16="http://schemas.microsoft.com/office/drawing/2014/main" val="1755740513"/>
                    </a:ext>
                  </a:extLst>
                </a:gridCol>
              </a:tblGrid>
              <a:tr h="80195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강의노트 기반 </a:t>
                      </a:r>
                      <a:r>
                        <a:rPr lang="en-US" altLang="ko-KR" dirty="0">
                          <a:solidFill>
                            <a:srgbClr val="FF0000"/>
                          </a:solidFill>
                        </a:rPr>
                        <a:t>STRIDE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847873"/>
                  </a:ext>
                </a:extLst>
              </a:tr>
              <a:tr h="8019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위협유형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위협시나리오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영향을 받는 요소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보안목표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854068"/>
                  </a:ext>
                </a:extLst>
              </a:tr>
              <a:tr h="8019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공격자가 다른 사용자의 자격 증명을 탈취해 회의에 참여하려고 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P2:Prosody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인증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668536"/>
                  </a:ext>
                </a:extLst>
              </a:tr>
              <a:tr h="8019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클라이언트 ↔ </a:t>
                      </a:r>
                      <a:r>
                        <a:rPr lang="en-US" altLang="ko-KR" dirty="0"/>
                        <a:t>Nginx </a:t>
                      </a:r>
                      <a:r>
                        <a:rPr lang="ko-KR" altLang="en-US" dirty="0"/>
                        <a:t>구간의 </a:t>
                      </a:r>
                      <a:r>
                        <a:rPr lang="en-US" altLang="ko-KR" dirty="0"/>
                        <a:t>XMPP</a:t>
                      </a:r>
                      <a:r>
                        <a:rPr lang="ko-KR" altLang="en-US" dirty="0"/>
                        <a:t>메세지를 변조함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시그널링흐름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무결성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285322"/>
                  </a:ext>
                </a:extLst>
              </a:tr>
              <a:tr h="8019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암호화 되지 않은 </a:t>
                      </a:r>
                      <a:r>
                        <a:rPr lang="en-US" altLang="ko-KR" dirty="0"/>
                        <a:t>SRTP</a:t>
                      </a:r>
                      <a:r>
                        <a:rPr lang="ko-KR" altLang="en-US" dirty="0"/>
                        <a:t>패킷을 중간에 도청함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P4:JVB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기밀성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849432"/>
                  </a:ext>
                </a:extLst>
              </a:tr>
              <a:tr h="790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표준문법형식을 따르지 않은 </a:t>
                      </a:r>
                      <a:r>
                        <a:rPr lang="en-US" altLang="ko-KR" dirty="0"/>
                        <a:t>JSON </a:t>
                      </a:r>
                      <a:r>
                        <a:rPr lang="ko-KR" altLang="en-US" dirty="0"/>
                        <a:t>을 보내 서버를 마비시킴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P2:Prosody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가용성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509639"/>
                  </a:ext>
                </a:extLst>
              </a:tr>
              <a:tr h="79096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일반 참여자가 관리자 권한을 획득해 타인을 </a:t>
                      </a:r>
                      <a:r>
                        <a:rPr lang="ko-KR" altLang="en-US" dirty="0" err="1"/>
                        <a:t>강퇴함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P3:Jicofo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권한부여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615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1955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700942F-B2F6-0A89-5B42-62C49EAF1A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005138"/>
              </p:ext>
            </p:extLst>
          </p:nvPr>
        </p:nvGraphicFramePr>
        <p:xfrm>
          <a:off x="646595" y="216744"/>
          <a:ext cx="11128312" cy="737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2078">
                  <a:extLst>
                    <a:ext uri="{9D8B030D-6E8A-4147-A177-3AD203B41FA5}">
                      <a16:colId xmlns:a16="http://schemas.microsoft.com/office/drawing/2014/main" val="1247950126"/>
                    </a:ext>
                  </a:extLst>
                </a:gridCol>
                <a:gridCol w="2782078">
                  <a:extLst>
                    <a:ext uri="{9D8B030D-6E8A-4147-A177-3AD203B41FA5}">
                      <a16:colId xmlns:a16="http://schemas.microsoft.com/office/drawing/2014/main" val="632882144"/>
                    </a:ext>
                  </a:extLst>
                </a:gridCol>
                <a:gridCol w="2782078">
                  <a:extLst>
                    <a:ext uri="{9D8B030D-6E8A-4147-A177-3AD203B41FA5}">
                      <a16:colId xmlns:a16="http://schemas.microsoft.com/office/drawing/2014/main" val="2096124397"/>
                    </a:ext>
                  </a:extLst>
                </a:gridCol>
                <a:gridCol w="2782078">
                  <a:extLst>
                    <a:ext uri="{9D8B030D-6E8A-4147-A177-3AD203B41FA5}">
                      <a16:colId xmlns:a16="http://schemas.microsoft.com/office/drawing/2014/main" val="1755740513"/>
                    </a:ext>
                  </a:extLst>
                </a:gridCol>
              </a:tblGrid>
              <a:tr h="256140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Microsoft Threat Modeling Tool </a:t>
                      </a:r>
                      <a:r>
                        <a:rPr lang="ko-KR" altLang="en-US">
                          <a:solidFill>
                            <a:srgbClr val="FF0000"/>
                          </a:solidFill>
                        </a:rPr>
                        <a:t>기반 </a:t>
                      </a:r>
                      <a:r>
                        <a:rPr lang="en-US" altLang="ko-KR">
                          <a:solidFill>
                            <a:srgbClr val="FF0000"/>
                          </a:solidFill>
                        </a:rPr>
                        <a:t>STRIDE </a:t>
                      </a:r>
                      <a:endParaRPr lang="ko-KR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847873"/>
                  </a:ext>
                </a:extLst>
              </a:tr>
              <a:tr h="2561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위협유형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위협시나리오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영향을 받는 요소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보안목표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854068"/>
                  </a:ext>
                </a:extLst>
              </a:tr>
              <a:tr h="7470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사용자의 로그인 세션이나 중요한 개인정보가 저장되는 데이터베이스</a:t>
                      </a:r>
                      <a:r>
                        <a:rPr lang="en-US" altLang="ko-KR" sz="1600" dirty="0"/>
                        <a:t>(DB)</a:t>
                      </a:r>
                      <a:r>
                        <a:rPr lang="ko-KR" altLang="en-US" sz="1600" dirty="0"/>
                        <a:t>를 사칭하는 위협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User/Session Data Store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인증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4668536"/>
                  </a:ext>
                </a:extLst>
              </a:tr>
              <a:tr h="7470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T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제어 패킷에 검증되지 않은 악성 문자열을 주입하여 미디어 서버 데이터 오염 및 오작동을 유도합니다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JVB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무결성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9285322"/>
                  </a:ext>
                </a:extLst>
              </a:tr>
              <a:tr h="7470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R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작업 기록</a:t>
                      </a:r>
                      <a:r>
                        <a:rPr lang="en-US" altLang="ko-KR" sz="1600" dirty="0"/>
                        <a:t>(</a:t>
                      </a:r>
                      <a:r>
                        <a:rPr lang="ko-KR" altLang="en-US" sz="1600" dirty="0"/>
                        <a:t>로그</a:t>
                      </a:r>
                      <a:r>
                        <a:rPr lang="en-US" altLang="ko-KR" sz="1600" dirty="0"/>
                        <a:t>) </a:t>
                      </a:r>
                      <a:r>
                        <a:rPr lang="ko-KR" altLang="en-US" sz="1600" dirty="0"/>
                        <a:t>누락을 악용해 보안 사고 발생 시 공격자가 행위를 부인하고 추적을 회피합니다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User/Session Data Store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책임추적성확보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11000402020202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849432"/>
                  </a:ext>
                </a:extLst>
              </a:tr>
              <a:tr h="7470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내부 통신 구간을 암호화하지 않아 네트워크 </a:t>
                      </a:r>
                      <a:r>
                        <a:rPr lang="ko-KR" altLang="en-US" sz="1600" dirty="0" err="1"/>
                        <a:t>스니핑으로</a:t>
                      </a:r>
                      <a:r>
                        <a:rPr lang="ko-KR" altLang="en-US" sz="1600" dirty="0"/>
                        <a:t> 민감한 회원 정보를 그대로 도청당합니다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SQL/Key-Value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110004020202020204"/>
                          <a:ea typeface="맑은 고딕" panose="020B0503020000020004" pitchFamily="50" charset="-127"/>
                          <a:cs typeface="+mn-cs"/>
                        </a:rPr>
                        <a:t>기밀성보장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3509639"/>
                  </a:ext>
                </a:extLst>
              </a:tr>
              <a:tr h="9178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대량의 신호나 치명적인 페이로드로 서버 리소스를 고갈시켜 모든 화상회의를 중단하고 가용성을 마비시킵니다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JVB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가용성확보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3615989"/>
                  </a:ext>
                </a:extLst>
              </a:tr>
              <a:tr h="7470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E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사용자 브라우저를 속여 위조된 요청을 보내게 만듦으로써 타인의 화상회의 방 제어 권한을 찬탈합니다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CSRF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인가통제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782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4110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85795A-2F6F-9E21-7753-0772E2165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STRIDE</a:t>
            </a:r>
            <a:r>
              <a:rPr lang="ko-KR" altLang="en-US" dirty="0"/>
              <a:t>를 기반으로 </a:t>
            </a:r>
            <a:r>
              <a:rPr lang="en-US" altLang="ko-KR" dirty="0"/>
              <a:t>DREAD</a:t>
            </a:r>
            <a:r>
              <a:rPr lang="ko-KR" altLang="en-US" dirty="0"/>
              <a:t>점수 부여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093CEB-551B-7E6A-1A79-046B87C491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48" y="1162878"/>
            <a:ext cx="11907078" cy="5546035"/>
          </a:xfrm>
        </p:spPr>
        <p:txBody>
          <a:bodyPr/>
          <a:lstStyle/>
          <a:p>
            <a:r>
              <a:rPr lang="ko-KR" altLang="en-US" dirty="0"/>
              <a:t>강의노트 기반의 </a:t>
            </a:r>
            <a:r>
              <a:rPr lang="en-US" altLang="ko-KR" dirty="0"/>
              <a:t>DREAD</a:t>
            </a:r>
            <a:r>
              <a:rPr lang="ko-KR" altLang="en-US" dirty="0"/>
              <a:t>점수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F8CF35A-4602-430E-7D25-DB16CDA7B4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157376"/>
              </p:ext>
            </p:extLst>
          </p:nvPr>
        </p:nvGraphicFramePr>
        <p:xfrm>
          <a:off x="294640" y="1877906"/>
          <a:ext cx="11480802" cy="478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3467">
                  <a:extLst>
                    <a:ext uri="{9D8B030D-6E8A-4147-A177-3AD203B41FA5}">
                      <a16:colId xmlns:a16="http://schemas.microsoft.com/office/drawing/2014/main" val="1623580523"/>
                    </a:ext>
                  </a:extLst>
                </a:gridCol>
                <a:gridCol w="1913467">
                  <a:extLst>
                    <a:ext uri="{9D8B030D-6E8A-4147-A177-3AD203B41FA5}">
                      <a16:colId xmlns:a16="http://schemas.microsoft.com/office/drawing/2014/main" val="3508618680"/>
                    </a:ext>
                  </a:extLst>
                </a:gridCol>
                <a:gridCol w="1913467">
                  <a:extLst>
                    <a:ext uri="{9D8B030D-6E8A-4147-A177-3AD203B41FA5}">
                      <a16:colId xmlns:a16="http://schemas.microsoft.com/office/drawing/2014/main" val="3156359953"/>
                    </a:ext>
                  </a:extLst>
                </a:gridCol>
                <a:gridCol w="1913467">
                  <a:extLst>
                    <a:ext uri="{9D8B030D-6E8A-4147-A177-3AD203B41FA5}">
                      <a16:colId xmlns:a16="http://schemas.microsoft.com/office/drawing/2014/main" val="1800424176"/>
                    </a:ext>
                  </a:extLst>
                </a:gridCol>
                <a:gridCol w="1913467">
                  <a:extLst>
                    <a:ext uri="{9D8B030D-6E8A-4147-A177-3AD203B41FA5}">
                      <a16:colId xmlns:a16="http://schemas.microsoft.com/office/drawing/2014/main" val="2517314834"/>
                    </a:ext>
                  </a:extLst>
                </a:gridCol>
                <a:gridCol w="1913467">
                  <a:extLst>
                    <a:ext uri="{9D8B030D-6E8A-4147-A177-3AD203B41FA5}">
                      <a16:colId xmlns:a16="http://schemas.microsoft.com/office/drawing/2014/main" val="827774581"/>
                    </a:ext>
                  </a:extLst>
                </a:gridCol>
              </a:tblGrid>
              <a:tr h="774136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S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700959"/>
                  </a:ext>
                </a:extLst>
              </a:tr>
              <a:tr h="774136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D(</a:t>
                      </a:r>
                      <a:r>
                        <a:rPr lang="ko-KR" altLang="en-US" dirty="0"/>
                        <a:t>피해가능성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223674"/>
                  </a:ext>
                </a:extLst>
              </a:tr>
              <a:tr h="774136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R(</a:t>
                      </a:r>
                      <a:r>
                        <a:rPr lang="ko-KR" altLang="en-US" dirty="0"/>
                        <a:t>재현성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849635"/>
                  </a:ext>
                </a:extLst>
              </a:tr>
              <a:tr h="774136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E(</a:t>
                      </a:r>
                      <a:r>
                        <a:rPr lang="ko-KR" altLang="en-US" dirty="0"/>
                        <a:t>악용가능성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074054"/>
                  </a:ext>
                </a:extLst>
              </a:tr>
              <a:tr h="774136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A(</a:t>
                      </a:r>
                      <a:r>
                        <a:rPr lang="ko-KR" altLang="en-US" dirty="0" err="1"/>
                        <a:t>영향받는사용자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44282"/>
                  </a:ext>
                </a:extLst>
              </a:tr>
              <a:tr h="774136">
                <a:tc>
                  <a:txBody>
                    <a:bodyPr/>
                    <a:lstStyle/>
                    <a:p>
                      <a:pPr algn="ctr" latinLnBrk="1"/>
                      <a:endParaRPr lang="en-US" altLang="ko-KR" dirty="0"/>
                    </a:p>
                    <a:p>
                      <a:pPr algn="ctr" latinLnBrk="1"/>
                      <a:r>
                        <a:rPr lang="en-US" altLang="ko-KR" dirty="0"/>
                        <a:t>D(</a:t>
                      </a:r>
                      <a:r>
                        <a:rPr lang="ko-KR" altLang="en-US" dirty="0"/>
                        <a:t>발견 가능성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953088"/>
                  </a:ext>
                </a:extLst>
              </a:tr>
            </a:tbl>
          </a:graphicData>
        </a:graphic>
      </p:graphicFrame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96869C2-A791-FE4D-4773-5F5D1398F991}"/>
              </a:ext>
            </a:extLst>
          </p:cNvPr>
          <p:cNvCxnSpPr/>
          <p:nvPr/>
        </p:nvCxnSpPr>
        <p:spPr>
          <a:xfrm>
            <a:off x="314960" y="1899920"/>
            <a:ext cx="1879600" cy="711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8798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B4965-C508-A45F-45E3-749162710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665972-1024-ACB1-6A82-10454D953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en-US" altLang="ko-KR" dirty="0"/>
              <a:t>STRIDE</a:t>
            </a:r>
            <a:r>
              <a:rPr lang="ko-KR" altLang="en-US" dirty="0"/>
              <a:t>를 기반으로 </a:t>
            </a:r>
            <a:r>
              <a:rPr lang="en-US" altLang="ko-KR" dirty="0"/>
              <a:t>DREAD</a:t>
            </a:r>
            <a:r>
              <a:rPr lang="ko-KR" altLang="en-US" dirty="0"/>
              <a:t>점수 부여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80D83D-598B-11AB-90EA-4B74E885D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148" y="1162878"/>
            <a:ext cx="11907078" cy="5546035"/>
          </a:xfrm>
        </p:spPr>
        <p:txBody>
          <a:bodyPr/>
          <a:lstStyle/>
          <a:p>
            <a:r>
              <a:rPr lang="en-US" altLang="ko-KR" dirty="0"/>
              <a:t>Tool</a:t>
            </a:r>
            <a:r>
              <a:rPr lang="ko-KR" altLang="en-US" dirty="0"/>
              <a:t> 기반의 </a:t>
            </a:r>
            <a:r>
              <a:rPr lang="en-US" altLang="ko-KR" dirty="0"/>
              <a:t>DREAD</a:t>
            </a:r>
            <a:r>
              <a:rPr lang="ko-KR" altLang="en-US" dirty="0"/>
              <a:t>점수 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EB75304-1656-BB07-E8AF-7D489F329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273893"/>
              </p:ext>
            </p:extLst>
          </p:nvPr>
        </p:nvGraphicFramePr>
        <p:xfrm>
          <a:off x="145774" y="1691939"/>
          <a:ext cx="11900455" cy="5032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065">
                  <a:extLst>
                    <a:ext uri="{9D8B030D-6E8A-4147-A177-3AD203B41FA5}">
                      <a16:colId xmlns:a16="http://schemas.microsoft.com/office/drawing/2014/main" val="113081819"/>
                    </a:ext>
                  </a:extLst>
                </a:gridCol>
                <a:gridCol w="1700065">
                  <a:extLst>
                    <a:ext uri="{9D8B030D-6E8A-4147-A177-3AD203B41FA5}">
                      <a16:colId xmlns:a16="http://schemas.microsoft.com/office/drawing/2014/main" val="4270064844"/>
                    </a:ext>
                  </a:extLst>
                </a:gridCol>
                <a:gridCol w="1700065">
                  <a:extLst>
                    <a:ext uri="{9D8B030D-6E8A-4147-A177-3AD203B41FA5}">
                      <a16:colId xmlns:a16="http://schemas.microsoft.com/office/drawing/2014/main" val="2304573634"/>
                    </a:ext>
                  </a:extLst>
                </a:gridCol>
                <a:gridCol w="1700065">
                  <a:extLst>
                    <a:ext uri="{9D8B030D-6E8A-4147-A177-3AD203B41FA5}">
                      <a16:colId xmlns:a16="http://schemas.microsoft.com/office/drawing/2014/main" val="885681828"/>
                    </a:ext>
                  </a:extLst>
                </a:gridCol>
                <a:gridCol w="1700065">
                  <a:extLst>
                    <a:ext uri="{9D8B030D-6E8A-4147-A177-3AD203B41FA5}">
                      <a16:colId xmlns:a16="http://schemas.microsoft.com/office/drawing/2014/main" val="1429221631"/>
                    </a:ext>
                  </a:extLst>
                </a:gridCol>
                <a:gridCol w="1700065">
                  <a:extLst>
                    <a:ext uri="{9D8B030D-6E8A-4147-A177-3AD203B41FA5}">
                      <a16:colId xmlns:a16="http://schemas.microsoft.com/office/drawing/2014/main" val="2447586116"/>
                    </a:ext>
                  </a:extLst>
                </a:gridCol>
                <a:gridCol w="1700065">
                  <a:extLst>
                    <a:ext uri="{9D8B030D-6E8A-4147-A177-3AD203B41FA5}">
                      <a16:colId xmlns:a16="http://schemas.microsoft.com/office/drawing/2014/main" val="2865026391"/>
                    </a:ext>
                  </a:extLst>
                </a:gridCol>
              </a:tblGrid>
              <a:tr h="716710">
                <a:tc>
                  <a:txBody>
                    <a:bodyPr/>
                    <a:lstStyle/>
                    <a:p>
                      <a:pPr algn="ctr"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379907"/>
                  </a:ext>
                </a:extLst>
              </a:tr>
              <a:tr h="716710"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D(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피해가능성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807061"/>
                  </a:ext>
                </a:extLst>
              </a:tr>
              <a:tr h="716710"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R(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재현성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922006"/>
                  </a:ext>
                </a:extLst>
              </a:tr>
              <a:tr h="716710"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E(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악용가능성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177230"/>
                  </a:ext>
                </a:extLst>
              </a:tr>
              <a:tr h="903551"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A(</a:t>
                      </a:r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영향받는사용자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950365"/>
                  </a:ext>
                </a:extLst>
              </a:tr>
              <a:tr h="1251712"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D(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발견 가능성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186937"/>
                  </a:ext>
                </a:extLst>
              </a:tr>
            </a:tbl>
          </a:graphicData>
        </a:graphic>
      </p:graphicFrame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5D0889A-6C94-E0C6-3032-03A001F161EA}"/>
              </a:ext>
            </a:extLst>
          </p:cNvPr>
          <p:cNvCxnSpPr/>
          <p:nvPr/>
        </p:nvCxnSpPr>
        <p:spPr>
          <a:xfrm>
            <a:off x="139148" y="1678329"/>
            <a:ext cx="1724376" cy="7407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0199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DE8390-A63E-9049-4618-8EFEDE0A9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ko-KR" altLang="en-US" dirty="0"/>
              <a:t>총 </a:t>
            </a:r>
            <a:r>
              <a:rPr lang="en-US" altLang="ko-KR" dirty="0"/>
              <a:t>DREAD </a:t>
            </a:r>
            <a:r>
              <a:rPr lang="ko-KR" altLang="en-US" dirty="0"/>
              <a:t>점수</a:t>
            </a:r>
            <a:r>
              <a:rPr lang="en-US" altLang="ko-KR" dirty="0"/>
              <a:t>	</a:t>
            </a:r>
            <a:r>
              <a:rPr lang="ko-KR" altLang="en-US" sz="2000" dirty="0"/>
              <a:t>총점</a:t>
            </a:r>
            <a:r>
              <a:rPr lang="en-US" altLang="ko-KR" sz="2000" dirty="0"/>
              <a:t>10</a:t>
            </a:r>
            <a:r>
              <a:rPr lang="ko-KR" altLang="en-US" sz="2000" dirty="0"/>
              <a:t>점  </a:t>
            </a:r>
            <a:r>
              <a:rPr lang="en-US" altLang="ko-KR" sz="2000" dirty="0"/>
              <a:t>critical &gt; high &gt; medium &gt; low</a:t>
            </a:r>
            <a:r>
              <a:rPr lang="ko-KR" altLang="en-US" dirty="0"/>
              <a:t>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8014A96-1333-6C6B-4CAB-6A8C58BA4C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553066"/>
              </p:ext>
            </p:extLst>
          </p:nvPr>
        </p:nvGraphicFramePr>
        <p:xfrm>
          <a:off x="266700" y="1070186"/>
          <a:ext cx="11658600" cy="558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934">
                  <a:extLst>
                    <a:ext uri="{9D8B030D-6E8A-4147-A177-3AD203B41FA5}">
                      <a16:colId xmlns:a16="http://schemas.microsoft.com/office/drawing/2014/main" val="4157746714"/>
                    </a:ext>
                  </a:extLst>
                </a:gridCol>
                <a:gridCol w="1275879">
                  <a:extLst>
                    <a:ext uri="{9D8B030D-6E8A-4147-A177-3AD203B41FA5}">
                      <a16:colId xmlns:a16="http://schemas.microsoft.com/office/drawing/2014/main" val="1717311626"/>
                    </a:ext>
                  </a:extLst>
                </a:gridCol>
                <a:gridCol w="3980255">
                  <a:extLst>
                    <a:ext uri="{9D8B030D-6E8A-4147-A177-3AD203B41FA5}">
                      <a16:colId xmlns:a16="http://schemas.microsoft.com/office/drawing/2014/main" val="1344740384"/>
                    </a:ext>
                  </a:extLst>
                </a:gridCol>
                <a:gridCol w="1458226">
                  <a:extLst>
                    <a:ext uri="{9D8B030D-6E8A-4147-A177-3AD203B41FA5}">
                      <a16:colId xmlns:a16="http://schemas.microsoft.com/office/drawing/2014/main" val="467337018"/>
                    </a:ext>
                  </a:extLst>
                </a:gridCol>
                <a:gridCol w="470346">
                  <a:extLst>
                    <a:ext uri="{9D8B030D-6E8A-4147-A177-3AD203B41FA5}">
                      <a16:colId xmlns:a16="http://schemas.microsoft.com/office/drawing/2014/main" val="1924601263"/>
                    </a:ext>
                  </a:extLst>
                </a:gridCol>
                <a:gridCol w="470346">
                  <a:extLst>
                    <a:ext uri="{9D8B030D-6E8A-4147-A177-3AD203B41FA5}">
                      <a16:colId xmlns:a16="http://schemas.microsoft.com/office/drawing/2014/main" val="4257335166"/>
                    </a:ext>
                  </a:extLst>
                </a:gridCol>
                <a:gridCol w="314092">
                  <a:extLst>
                    <a:ext uri="{9D8B030D-6E8A-4147-A177-3AD203B41FA5}">
                      <a16:colId xmlns:a16="http://schemas.microsoft.com/office/drawing/2014/main" val="714152440"/>
                    </a:ext>
                  </a:extLst>
                </a:gridCol>
                <a:gridCol w="470346">
                  <a:extLst>
                    <a:ext uri="{9D8B030D-6E8A-4147-A177-3AD203B41FA5}">
                      <a16:colId xmlns:a16="http://schemas.microsoft.com/office/drawing/2014/main" val="2688484793"/>
                    </a:ext>
                  </a:extLst>
                </a:gridCol>
                <a:gridCol w="369474">
                  <a:extLst>
                    <a:ext uri="{9D8B030D-6E8A-4147-A177-3AD203B41FA5}">
                      <a16:colId xmlns:a16="http://schemas.microsoft.com/office/drawing/2014/main" val="656299049"/>
                    </a:ext>
                  </a:extLst>
                </a:gridCol>
                <a:gridCol w="727476">
                  <a:extLst>
                    <a:ext uri="{9D8B030D-6E8A-4147-A177-3AD203B41FA5}">
                      <a16:colId xmlns:a16="http://schemas.microsoft.com/office/drawing/2014/main" val="3225004795"/>
                    </a:ext>
                  </a:extLst>
                </a:gridCol>
                <a:gridCol w="1458226">
                  <a:extLst>
                    <a:ext uri="{9D8B030D-6E8A-4147-A177-3AD203B41FA5}">
                      <a16:colId xmlns:a16="http://schemas.microsoft.com/office/drawing/2014/main" val="1578506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dirty="0">
                          <a:effectLst/>
                        </a:rPr>
                        <a:t>순위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dirty="0">
                          <a:effectLst/>
                        </a:rPr>
                        <a:t>위협 유형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>
                          <a:effectLst/>
                        </a:rPr>
                        <a:t>위협 시나리오 </a:t>
                      </a:r>
                      <a:r>
                        <a:rPr lang="en-US" altLang="ko-KR">
                          <a:effectLst/>
                        </a:rPr>
                        <a:t>(</a:t>
                      </a:r>
                      <a:r>
                        <a:rPr lang="ko-KR" altLang="en-US">
                          <a:effectLst/>
                        </a:rPr>
                        <a:t>핵심 요약</a:t>
                      </a:r>
                      <a:r>
                        <a:rPr lang="en-US" altLang="ko-KR">
                          <a:effectLst/>
                        </a:rPr>
                        <a:t>)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dirty="0">
                          <a:effectLst/>
                        </a:rPr>
                        <a:t>영향 요소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D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R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E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A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D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dirty="0">
                          <a:effectLst/>
                        </a:rPr>
                        <a:t>평균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dirty="0">
                          <a:effectLst/>
                        </a:rPr>
                        <a:t>위험 등급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406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1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D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dirty="0">
                          <a:effectLst/>
                        </a:rPr>
                        <a:t>대량 신호 및 악성 </a:t>
                      </a:r>
                      <a:r>
                        <a:rPr lang="en-US" altLang="ko-KR" dirty="0">
                          <a:effectLst/>
                        </a:rPr>
                        <a:t>JSON</a:t>
                      </a:r>
                      <a:r>
                        <a:rPr lang="ko-KR" altLang="en-US" dirty="0">
                          <a:effectLst/>
                        </a:rPr>
                        <a:t>을 이용한 서버 마비 </a:t>
                      </a:r>
                      <a:r>
                        <a:rPr lang="en-US" altLang="ko-KR" dirty="0">
                          <a:effectLst/>
                        </a:rPr>
                        <a:t>(DoS) PDF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Prosody / JVB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9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10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8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10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8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9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Critical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659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2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E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dirty="0">
                          <a:effectLst/>
                        </a:rPr>
                        <a:t>JVB(</a:t>
                      </a:r>
                      <a:r>
                        <a:rPr lang="ko-KR" altLang="en-US" dirty="0">
                          <a:effectLst/>
                        </a:rPr>
                        <a:t>미디어 서버</a:t>
                      </a:r>
                      <a:r>
                        <a:rPr lang="en-US" altLang="ko-KR" dirty="0">
                          <a:effectLst/>
                        </a:rPr>
                        <a:t>)</a:t>
                      </a:r>
                      <a:r>
                        <a:rPr lang="ko-KR" altLang="en-US" dirty="0">
                          <a:effectLst/>
                        </a:rPr>
                        <a:t>에서의 원격 코드 실행 </a:t>
                      </a:r>
                      <a:r>
                        <a:rPr lang="en-US" altLang="ko-KR" dirty="0">
                          <a:effectLst/>
                        </a:rPr>
                        <a:t>(RCE)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P4: JVB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10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9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8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10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7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8.8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Critical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478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3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S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dirty="0">
                          <a:effectLst/>
                        </a:rPr>
                        <a:t>웹 서버</a:t>
                      </a:r>
                      <a:r>
                        <a:rPr lang="en-US" altLang="ko-KR" dirty="0">
                          <a:effectLst/>
                        </a:rPr>
                        <a:t>(Nginx) </a:t>
                      </a:r>
                      <a:r>
                        <a:rPr lang="ko-KR" altLang="en-US" dirty="0">
                          <a:effectLst/>
                        </a:rPr>
                        <a:t>사칭 및 클라이언트 정보 유출 </a:t>
                      </a:r>
                      <a:r>
                        <a:rPr lang="en-US" altLang="ko-KR" dirty="0">
                          <a:effectLst/>
                        </a:rPr>
                        <a:t>PDF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P1: Nginx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9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8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7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10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8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8.4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High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98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4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T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dirty="0">
                          <a:effectLst/>
                        </a:rPr>
                        <a:t>미디어 제어 패킷에 악성 문자열 주입 및 오작동 유도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P4: JVB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9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8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7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10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8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8.4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High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429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5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S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>
                          <a:effectLst/>
                        </a:rPr>
                        <a:t>데이터 저장소</a:t>
                      </a:r>
                      <a:r>
                        <a:rPr lang="en-US" altLang="ko-KR">
                          <a:effectLst/>
                        </a:rPr>
                        <a:t>(DB) </a:t>
                      </a:r>
                      <a:r>
                        <a:rPr lang="ko-KR" altLang="en-US">
                          <a:effectLst/>
                        </a:rPr>
                        <a:t>사칭을 통한 자격 증명 탈취 </a:t>
                      </a:r>
                      <a:r>
                        <a:rPr lang="en-US" altLang="ko-KR">
                          <a:effectLst/>
                        </a:rPr>
                        <a:t>PDF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Data Store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10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7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6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10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7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8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High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895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6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I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>
                          <a:effectLst/>
                        </a:rPr>
                        <a:t>미디어 패킷</a:t>
                      </a:r>
                      <a:r>
                        <a:rPr lang="en-US" altLang="ko-KR">
                          <a:effectLst/>
                        </a:rPr>
                        <a:t>(SRTP) </a:t>
                      </a:r>
                      <a:r>
                        <a:rPr lang="ko-KR" altLang="en-US">
                          <a:effectLst/>
                        </a:rPr>
                        <a:t>또는 내부 </a:t>
                      </a:r>
                      <a:r>
                        <a:rPr lang="en-US" altLang="ko-KR">
                          <a:effectLst/>
                        </a:rPr>
                        <a:t>SQL </a:t>
                      </a:r>
                      <a:r>
                        <a:rPr lang="ko-KR" altLang="en-US">
                          <a:effectLst/>
                        </a:rPr>
                        <a:t>구간 도청 </a:t>
                      </a:r>
                      <a:r>
                        <a:rPr lang="en-US" altLang="ko-KR">
                          <a:effectLst/>
                        </a:rPr>
                        <a:t>PDF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JVB / SQL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9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8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6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10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6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7.8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High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291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7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E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CSRF </a:t>
                      </a:r>
                      <a:r>
                        <a:rPr lang="ko-KR" altLang="en-US">
                          <a:effectLst/>
                        </a:rPr>
                        <a:t>또는 권한 상승을 통한 회의 제어권 탈취 </a:t>
                      </a:r>
                      <a:r>
                        <a:rPr lang="en-US" altLang="ko-KR">
                          <a:effectLst/>
                        </a:rPr>
                        <a:t>PDF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P3: Jicofo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8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dirty="0">
                          <a:effectLst/>
                        </a:rPr>
                        <a:t>7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dirty="0">
                          <a:effectLst/>
                        </a:rPr>
                        <a:t>7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dirty="0">
                          <a:effectLst/>
                        </a:rPr>
                        <a:t>8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7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7.4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High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6090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8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S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>
                          <a:effectLst/>
                        </a:rPr>
                        <a:t>전화망</a:t>
                      </a:r>
                      <a:r>
                        <a:rPr lang="en-US" altLang="ko-KR">
                          <a:effectLst/>
                        </a:rPr>
                        <a:t>(PSTN) </a:t>
                      </a:r>
                      <a:r>
                        <a:rPr lang="ko-KR" altLang="en-US">
                          <a:effectLst/>
                        </a:rPr>
                        <a:t>개체 사칭 및 데이터 타겟팅 </a:t>
                      </a:r>
                      <a:r>
                        <a:rPr lang="en-US" altLang="ko-KR">
                          <a:effectLst/>
                        </a:rPr>
                        <a:t>PDF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Jigasi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7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6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5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4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9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 dirty="0">
                          <a:effectLst/>
                        </a:rPr>
                        <a:t>6.2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Medium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8910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9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R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ko-KR" altLang="en-US" dirty="0">
                          <a:effectLst/>
                        </a:rPr>
                        <a:t>로그 누락을 악용한 공격 행위 부인 및 회피 </a:t>
                      </a:r>
                      <a:r>
                        <a:rPr lang="en-US" altLang="ko-KR" dirty="0">
                          <a:effectLst/>
                        </a:rPr>
                        <a:t>PDF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Data Store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6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5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5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4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7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altLang="ko-KR">
                          <a:effectLst/>
                        </a:rPr>
                        <a:t>5.4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Medium</a:t>
                      </a:r>
                    </a:p>
                  </a:txBody>
                  <a:tcPr marL="22860" marR="22860" marT="15240" marB="152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9373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5793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904AA0-8E72-144A-0A59-856B114FD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위협 대응방안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80EEBA-E210-FA95-92A4-06C11387B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암호화 </a:t>
            </a:r>
            <a:r>
              <a:rPr lang="en-US" altLang="ko-KR" dirty="0"/>
              <a:t>: DTLS – SRTP</a:t>
            </a:r>
            <a:r>
              <a:rPr lang="ko-KR" altLang="en-US" dirty="0"/>
              <a:t>방식 적용</a:t>
            </a:r>
            <a:endParaRPr lang="en-US" altLang="ko-KR" dirty="0"/>
          </a:p>
          <a:p>
            <a:r>
              <a:rPr lang="ko-KR" altLang="en-US" dirty="0"/>
              <a:t>가용성 확보 </a:t>
            </a:r>
            <a:r>
              <a:rPr lang="en-US" altLang="ko-KR" dirty="0"/>
              <a:t>: Nginx </a:t>
            </a:r>
            <a:r>
              <a:rPr lang="ko-KR" altLang="en-US" dirty="0"/>
              <a:t>의 </a:t>
            </a:r>
            <a:r>
              <a:rPr lang="en-US" altLang="ko-KR" dirty="0"/>
              <a:t>Rate Limiting </a:t>
            </a:r>
            <a:r>
              <a:rPr lang="ko-KR" altLang="en-US" dirty="0"/>
              <a:t>적용</a:t>
            </a:r>
            <a:endParaRPr lang="en-US" altLang="ko-KR" dirty="0"/>
          </a:p>
          <a:p>
            <a:r>
              <a:rPr lang="ko-KR" altLang="en-US" dirty="0" err="1"/>
              <a:t>입력값</a:t>
            </a:r>
            <a:r>
              <a:rPr lang="ko-KR" altLang="en-US" dirty="0"/>
              <a:t> 검증 </a:t>
            </a:r>
            <a:r>
              <a:rPr lang="en-US" altLang="ko-KR" dirty="0"/>
              <a:t>: Malformed Json </a:t>
            </a:r>
            <a:r>
              <a:rPr lang="ko-KR" altLang="en-US" dirty="0"/>
              <a:t>차단을 위한 로직 적용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97507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1373</TotalTime>
  <Words>594</Words>
  <Application>Microsoft Office PowerPoint</Application>
  <PresentationFormat>와이드스크린</PresentationFormat>
  <Paragraphs>327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1조 실험그룹A조</vt:lpstr>
      <vt:lpstr>Jitsi Meet DFD  두개의 DFD산출 ( 형식은 달라도 내용은 비슷함 )</vt:lpstr>
      <vt:lpstr>PowerPoint 프레젠테이션</vt:lpstr>
      <vt:lpstr>PowerPoint 프레젠테이션</vt:lpstr>
      <vt:lpstr>STRIDE를 기반으로 DREAD점수 부여</vt:lpstr>
      <vt:lpstr>STRIDE를 기반으로 DREAD점수 부여</vt:lpstr>
      <vt:lpstr>총 DREAD 점수 총점10점  critical &gt; high &gt; medium &gt; low </vt:lpstr>
      <vt:lpstr>위협 대응방안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근형 김</dc:creator>
  <cp:lastModifiedBy>근형 김</cp:lastModifiedBy>
  <cp:revision>1</cp:revision>
  <dcterms:created xsi:type="dcterms:W3CDTF">2026-05-21T06:49:59Z</dcterms:created>
  <dcterms:modified xsi:type="dcterms:W3CDTF">2026-05-27T05:48:53Z</dcterms:modified>
</cp:coreProperties>
</file>